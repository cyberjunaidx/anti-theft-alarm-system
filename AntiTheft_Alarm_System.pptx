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28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57200" y="4526280"/>
            <a:ext cx="8229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Ultrasonic-Based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Anti-Theft Alarm System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 UNO · HC-SR04 Ultrasonic Sensor · LED Indicators · Buzzer Alert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63040" y="342900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00B4D8">
              <a:alpha val="2000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463040" y="342900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 Project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11880" y="342900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3FB950">
              <a:alpha val="2000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611880" y="342900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Embedded Systems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342900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E3B341">
              <a:alpha val="2000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760720" y="342900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&amp; IoT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-548640" y="4663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Shape 0"/>
          <p:cNvSpPr/>
          <p:nvPr/>
        </p:nvSpPr>
        <p:spPr>
          <a:xfrm>
            <a:off x="173736" y="0"/>
            <a:ext cx="109728" cy="5143500"/>
          </a:xfrm>
          <a:prstGeom prst="rect">
            <a:avLst/>
          </a:prstGeom>
          <a:solidFill>
            <a:srgbClr val="FF0000"/>
          </a:solid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03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85953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81381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Ultrasonic-Based Anti-Theft Alarm System is an Arduino-powered security device that uses sound waves to detect nearby objects or intruders. When armed, it continuously measures distance — triggering a buzzer alarm and flashing red LED when anything moves within 200 cm. A green LED confirms the system is active and clear.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2743200" cy="246888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2743200" cy="64008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11480" y="2487168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Arm / Disarm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2944368"/>
            <a:ext cx="24688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Push-button toggle arms or disarms the entire system instantly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72968" y="2331720"/>
            <a:ext cx="2743200" cy="24688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172968" y="2331720"/>
            <a:ext cx="2743200" cy="64008"/>
          </a:xfrm>
          <a:prstGeom prst="rect">
            <a:avLst/>
          </a:prstGeom>
          <a:solidFill>
            <a:srgbClr val="3FB950"/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10128" y="2487168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Detection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10128" y="2944368"/>
            <a:ext cx="24688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HC-SR04 pings 20×/sec with a 200 cm detection range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71616" y="2331720"/>
            <a:ext cx="2743200" cy="246888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071616" y="2331720"/>
            <a:ext cx="2743200" cy="64008"/>
          </a:xfrm>
          <a:prstGeom prst="rect">
            <a:avLst/>
          </a:prstGeom>
          <a:solidFill>
            <a:srgbClr val="F85149"/>
          </a:solidFill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208776" y="2487168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Dual Alerts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08776" y="2944368"/>
            <a:ext cx="24688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kHz buzzer tone + flashing red LED on intrusion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3FB950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03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8346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64008" cy="192024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93192" y="9601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 UNO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25272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Microcontroller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1527048"/>
            <a:ext cx="2560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ATmega328P, 14 digital I/O pins, runs at 16 MHz. The brain of the system.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3192" y="2423160"/>
            <a:ext cx="2468880" cy="256032"/>
          </a:xfrm>
          <a:prstGeom prst="rect">
            <a:avLst/>
          </a:prstGeom>
          <a:solidFill>
            <a:srgbClr val="0D1117"/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93192" y="242316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📌 Power: 5V &amp; GND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2968" y="868680"/>
            <a:ext cx="28346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172968" y="868680"/>
            <a:ext cx="64008" cy="1920240"/>
          </a:xfrm>
          <a:prstGeom prst="rect">
            <a:avLst/>
          </a:prstGeom>
          <a:solidFill>
            <a:srgbClr val="3FB950"/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337560" y="9601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HC-SR04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125272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Ultrasonic Sensor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527048"/>
            <a:ext cx="2560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Sends 40 kHz pulses; measures echo return time to calculate distance (2–400 cm).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7560" y="2423160"/>
            <a:ext cx="2468880" cy="256032"/>
          </a:xfrm>
          <a:prstGeom prst="rect">
            <a:avLst/>
          </a:prstGeom>
          <a:solidFill>
            <a:srgbClr val="0D1117"/>
          </a:solidFill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337560" y="242316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📌 TRIG→D7, ECHO→D6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17336" y="868680"/>
            <a:ext cx="28346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117336" y="868680"/>
            <a:ext cx="64008" cy="1920240"/>
          </a:xfrm>
          <a:prstGeom prst="rect">
            <a:avLst/>
          </a:prstGeom>
          <a:solidFill>
            <a:srgbClr val="E3B341"/>
          </a:solidFill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281928" y="9601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Buzzer (Passive)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81928" y="125272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Audio Alert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81928" y="1527048"/>
            <a:ext cx="2560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Piezoelectric buzzer driven by tone() at 1000 Hz when an intruder is detected.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81928" y="2423160"/>
            <a:ext cx="2468880" cy="256032"/>
          </a:xfrm>
          <a:prstGeom prst="rect">
            <a:avLst/>
          </a:prstGeom>
          <a:solidFill>
            <a:srgbClr val="0D1117"/>
          </a:solidFill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281928" y="242316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3B34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📌 Signal→D12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2926080"/>
            <a:ext cx="28346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28600" y="2926080"/>
            <a:ext cx="64008" cy="1920240"/>
          </a:xfrm>
          <a:prstGeom prst="rect">
            <a:avLst/>
          </a:prstGeom>
          <a:solidFill>
            <a:srgbClr val="F85149"/>
          </a:solidFill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93192" y="30175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 LED + 330Ω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3192" y="331012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Alert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3192" y="3584448"/>
            <a:ext cx="2560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Flashes at 200 ms intervals when armed and an object enters the detection zone.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93192" y="4480560"/>
            <a:ext cx="2468880" cy="256032"/>
          </a:xfrm>
          <a:prstGeom prst="rect">
            <a:avLst/>
          </a:prstGeom>
          <a:solidFill>
            <a:srgbClr val="0D1117"/>
          </a:solidFill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93192" y="448056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514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📌 Anode→D11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72968" y="2926080"/>
            <a:ext cx="28346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3172968" y="2926080"/>
            <a:ext cx="64008" cy="1920240"/>
          </a:xfrm>
          <a:prstGeom prst="rect">
            <a:avLst/>
          </a:prstGeom>
          <a:solidFill>
            <a:srgbClr val="3FB950"/>
          </a:solidFill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3337560" y="30175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Green LED + 330Ω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37560" y="331012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Indicator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37560" y="3584448"/>
            <a:ext cx="2560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Stays solid ON when the system is armed and no threat is detected.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37560" y="4480560"/>
            <a:ext cx="2468880" cy="256032"/>
          </a:xfrm>
          <a:prstGeom prst="rect">
            <a:avLst/>
          </a:prstGeom>
          <a:solidFill>
            <a:srgbClr val="0D1117"/>
          </a:solidFill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3337560" y="448056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📌 Anode→D10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17336" y="2926080"/>
            <a:ext cx="28346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6117336" y="2926080"/>
            <a:ext cx="64008" cy="1920240"/>
          </a:xfrm>
          <a:prstGeom prst="rect">
            <a:avLst/>
          </a:prstGeom>
          <a:solidFill>
            <a:srgbClr val="8B949E"/>
          </a:solidFill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281928" y="30175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Push Button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81928" y="331012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Arm/Disarm Toggle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81928" y="3584448"/>
            <a:ext cx="2560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Connected with INPUT_PULLUP. Single press toggles system state; 300 ms debounce.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81928" y="4480560"/>
            <a:ext cx="2468880" cy="256032"/>
          </a:xfrm>
          <a:prstGeom prst="rect">
            <a:avLst/>
          </a:prstGeom>
          <a:solidFill>
            <a:srgbClr val="0D1117"/>
          </a:solidFill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6281928" y="448056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📌 Signal→D2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3B341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Circuit &amp; Wiring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03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2743200" cy="365760"/>
          </a:xfrm>
          <a:prstGeom prst="rect">
            <a:avLst/>
          </a:prstGeom>
          <a:solidFill>
            <a:srgbClr val="1C2B3A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841248"/>
            <a:ext cx="2194560" cy="365760"/>
          </a:xfrm>
          <a:prstGeom prst="rect">
            <a:avLst/>
          </a:prstGeom>
          <a:solidFill>
            <a:srgbClr val="1C2B3A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154680" y="8412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 Pin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841248"/>
            <a:ext cx="1828800" cy="365760"/>
          </a:xfrm>
          <a:prstGeom prst="rect">
            <a:avLst/>
          </a:prstGeom>
          <a:solidFill>
            <a:srgbClr val="1C2B3A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394960" y="84124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 Color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225296"/>
            <a:ext cx="274320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65760" y="1225296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HC-SR04  VCC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1225296"/>
            <a:ext cx="219456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154680" y="122529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0" y="1225296"/>
            <a:ext cx="182880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394960" y="122529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1609344"/>
            <a:ext cx="2743200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5760" y="160934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HC-SR04  GND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63240" y="1609344"/>
            <a:ext cx="2194560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154680" y="160934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GND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03520" y="1609344"/>
            <a:ext cx="1828800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394960" y="160934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Black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1993392"/>
            <a:ext cx="274320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65760" y="1993392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HC-SR04  TRIG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63240" y="1993392"/>
            <a:ext cx="219456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154680" y="199339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D7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03520" y="1993392"/>
            <a:ext cx="182880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394960" y="199339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Yellow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2377440"/>
            <a:ext cx="2743200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65760" y="23774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HC-SR04  ECHO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063240" y="2377440"/>
            <a:ext cx="2194560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154680" y="23774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D6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303520" y="2377440"/>
            <a:ext cx="1828800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5394960" y="23774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Green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2761488"/>
            <a:ext cx="274320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365760" y="276148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Buzzer  (+)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063240" y="2761488"/>
            <a:ext cx="219456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3154680" y="276148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D12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303520" y="2761488"/>
            <a:ext cx="182880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5394960" y="276148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Purple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3145536"/>
            <a:ext cx="2743200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365760" y="3145536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 LED  (+)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063240" y="3145536"/>
            <a:ext cx="2194560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3154680" y="314553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D11 via 330Ω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303520" y="3145536"/>
            <a:ext cx="1828800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5394960" y="314553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4320" y="3529584"/>
            <a:ext cx="274320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365760" y="3529584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Green LED  (+)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063240" y="3529584"/>
            <a:ext cx="219456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3154680" y="352958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D10 via 330Ω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303520" y="3529584"/>
            <a:ext cx="182880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5394960" y="35295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Green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" y="3913632"/>
            <a:ext cx="2743200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365760" y="3913632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Button  Pin 1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063240" y="3913632"/>
            <a:ext cx="2194560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3154680" y="391363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D2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303520" y="3913632"/>
            <a:ext cx="1828800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5394960" y="391363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Orange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74320" y="4297680"/>
            <a:ext cx="274320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365760" y="42976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Button  Pin 2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063240" y="4297680"/>
            <a:ext cx="219456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3154680" y="42976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GND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303520" y="4297680"/>
            <a:ext cx="182880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5394960" y="42976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Black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132320" y="841248"/>
            <a:ext cx="1828800" cy="1298448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7223760" y="9144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330Ω Resistors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223760" y="1188720"/>
            <a:ext cx="16916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LED must use a 330 Ω resistor in series to limit current to ~10 mA and protect the Arduino pin.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132320" y="2258568"/>
            <a:ext cx="1828800" cy="1298448"/>
          </a:xfrm>
          <a:prstGeom prst="rect">
            <a:avLst/>
          </a:prstGeom>
          <a:solidFill>
            <a:srgbClr val="161B2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7223760" y="23317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INPUT_PULLUP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7223760" y="2606040"/>
            <a:ext cx="16916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Button uses internal pull-up; LOW = pressed. Eliminates need for external resistor.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132320" y="3675888"/>
            <a:ext cx="1828800" cy="1298448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7223760" y="37490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Breadboard GND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7223760" y="4023360"/>
            <a:ext cx="16916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GND connections share the breadboard rail tied to Arduino GND.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3B341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Schematic Diagram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03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4645152"/>
            <a:ext cx="192024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457200" y="4645152"/>
            <a:ext cx="54864" cy="274320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66928" y="4645152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 UNO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60320" y="4645152"/>
            <a:ext cx="192024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2560320" y="4645152"/>
            <a:ext cx="54864" cy="274320"/>
          </a:xfrm>
          <a:prstGeom prst="rect">
            <a:avLst/>
          </a:prstGeom>
          <a:solidFill>
            <a:srgbClr val="3FB950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2670048" y="4645152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HC-SR04 Sensor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4645152"/>
            <a:ext cx="192024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663440" y="4645152"/>
            <a:ext cx="54864" cy="274320"/>
          </a:xfrm>
          <a:prstGeom prst="rect">
            <a:avLst/>
          </a:prstGeom>
          <a:solidFill>
            <a:srgbClr val="E3B341"/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773168" y="4645152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Buzzer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66560" y="4645152"/>
            <a:ext cx="192024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6766560" y="4645152"/>
            <a:ext cx="54864" cy="274320"/>
          </a:xfrm>
          <a:prstGeom prst="rect">
            <a:avLst/>
          </a:prstGeom>
          <a:solidFill>
            <a:srgbClr val="F85149"/>
          </a:solidFill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876288" y="4645152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LEDs + Resistors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Made with Tinkercad® — Super Bruticus · 18/04/2026</a:t>
            </a:r>
            <a:endParaRPr lang="en-US" sz="9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766" y="748946"/>
            <a:ext cx="6391971" cy="38787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F85149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03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600200" cy="39319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50392" y="1005840"/>
            <a:ext cx="457200" cy="457200"/>
          </a:xfrm>
          <a:prstGeom prst="ellipse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50392" y="1005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Button Press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1417320" cy="2651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presses button → systemArmed toggles. 300 ms debounce prevents double-trigger.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74520" y="2834640"/>
            <a:ext cx="164592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039112" y="868680"/>
            <a:ext cx="1600200" cy="3931920"/>
          </a:xfrm>
          <a:prstGeom prst="rect">
            <a:avLst/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615184" y="1005840"/>
            <a:ext cx="457200" cy="457200"/>
          </a:xfrm>
          <a:prstGeom prst="ellipse">
            <a:avLst/>
          </a:prstGeom>
          <a:solidFill>
            <a:srgbClr val="E3B341"/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615184" y="1005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30552" y="1600200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B3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Ultrasonic Ping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30552" y="2029968"/>
            <a:ext cx="1417320" cy="2651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 goes HIGH for 10 µs → sensor fires 8 x 40 kHz pulses toward target.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39312" y="2834640"/>
            <a:ext cx="164592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803904" y="868680"/>
            <a:ext cx="1600200" cy="39319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379976" y="1005840"/>
            <a:ext cx="457200" cy="457200"/>
          </a:xfrm>
          <a:prstGeom prst="ellipse">
            <a:avLst/>
          </a:prstGeom>
          <a:solidFill>
            <a:srgbClr val="3FB950"/>
          </a:solidFill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379976" y="1005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95344" y="1600200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Echo Timing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95344" y="2029968"/>
            <a:ext cx="1417320" cy="2651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pulseIn() measures how long ECHO stays HIGH (µs). Speed of sound = 0.0343 cm/µs.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04104" y="2834640"/>
            <a:ext cx="164592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568696" y="868680"/>
            <a:ext cx="1600200" cy="39319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144768" y="1005840"/>
            <a:ext cx="457200" cy="457200"/>
          </a:xfrm>
          <a:prstGeom prst="ellipse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144768" y="1005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0136" y="1600200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Distance Calc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0136" y="2029968"/>
            <a:ext cx="1417320" cy="2651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distance = duration × 0.0343 ÷ 2. Divides by 2 because pulse travels TO object and back.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68896" y="2834640"/>
            <a:ext cx="164592" cy="0"/>
          </a:xfrm>
          <a:prstGeom prst="line">
            <a:avLst/>
          </a:prstGeom>
          <a:noFill/>
          <a:ln w="254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7333488" y="868680"/>
            <a:ext cx="1600200" cy="393192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7909560" y="1005840"/>
            <a:ext cx="457200" cy="457200"/>
          </a:xfrm>
          <a:prstGeom prst="ellipse">
            <a:avLst/>
          </a:prstGeom>
          <a:solidFill>
            <a:srgbClr val="F85149"/>
          </a:solidFill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7909560" y="1005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24928" y="1600200"/>
            <a:ext cx="1417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51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Threat Check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24928" y="2029968"/>
            <a:ext cx="1417320" cy="2651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distance &lt; 100 cm → tone(buzzer,1000) + red LED flash. Else → green LED on, silence.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B4D8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Walkthrough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03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137160" cy="137160"/>
          </a:xfrm>
          <a:prstGeom prst="ellipse">
            <a:avLst/>
          </a:prstGeom>
          <a:solidFill>
            <a:srgbClr val="F85149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13232" y="914400"/>
            <a:ext cx="137160" cy="137160"/>
          </a:xfrm>
          <a:prstGeom prst="ellipse">
            <a:avLst/>
          </a:prstGeom>
          <a:solidFill>
            <a:srgbClr val="E3B341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69264" y="914400"/>
            <a:ext cx="137160" cy="137160"/>
          </a:xfrm>
          <a:prstGeom prst="ellipse">
            <a:avLst/>
          </a:prstGeom>
          <a:solidFill>
            <a:srgbClr val="3FB950"/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325880" y="88696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sketch.ino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#define</a:t>
            </a:r>
            <a:r>
              <a:rPr lang="en-US" sz="90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trig 7  echo 6  buzzer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303020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#define</a:t>
            </a:r>
            <a:r>
              <a:rPr lang="en-US" sz="90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greenLED 10  redLED 11  button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623060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</a:t>
            </a:r>
            <a:r>
              <a:rPr lang="en-US" sz="900" dirty="0">
                <a:solidFill>
                  <a:srgbClr val="C9D1D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systemArmed = false;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943100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103120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395652" y="1011065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6" name="TextBox 45"/>
          <p:cNvSpPr txBox="1"/>
          <p:nvPr/>
        </p:nvSpPr>
        <p:spPr>
          <a:xfrm>
            <a:off x="365760" y="1812471"/>
            <a:ext cx="3396342" cy="2770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sz="900" b="0" dirty="0">
                <a:solidFill>
                  <a:srgbClr val="0CA1A6"/>
                </a:solidFill>
                <a:effectLst/>
                <a:latin typeface="Consolas" panose="020B0609020204030204" pitchFamily="34" charset="0"/>
              </a:rPr>
              <a:t>void</a:t>
            </a: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 </a:t>
            </a:r>
            <a:r>
              <a:rPr lang="en-GB" sz="900" b="0" dirty="0">
                <a:solidFill>
                  <a:srgbClr val="F39C12"/>
                </a:solidFill>
                <a:effectLst/>
                <a:latin typeface="Consolas" panose="020B0609020204030204" pitchFamily="34" charset="0"/>
              </a:rPr>
              <a:t>setup</a:t>
            </a: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() {</a:t>
            </a:r>
            <a:endParaRPr lang="en-GB" sz="900" b="0" dirty="0">
              <a:solidFill>
                <a:srgbClr val="DAE3E3"/>
              </a:solidFill>
              <a:effectLst/>
              <a:latin typeface="Consolas" panose="020B0609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  </a:t>
            </a:r>
            <a:r>
              <a:rPr lang="en-GB" sz="900" b="0" dirty="0" err="1">
                <a:solidFill>
                  <a:srgbClr val="F39C12"/>
                </a:solidFill>
                <a:effectLst/>
                <a:latin typeface="Consolas" panose="020B0609020204030204" pitchFamily="34" charset="0"/>
              </a:rPr>
              <a:t>pinMode</a:t>
            </a: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(trig, OUTPUT);</a:t>
            </a:r>
            <a:endParaRPr lang="en-GB" sz="900" b="0" dirty="0">
              <a:solidFill>
                <a:srgbClr val="DAE3E3"/>
              </a:solidFill>
              <a:effectLst/>
              <a:latin typeface="Consolas" panose="020B0609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  </a:t>
            </a:r>
            <a:r>
              <a:rPr lang="en-GB" sz="900" b="0" dirty="0" err="1">
                <a:solidFill>
                  <a:srgbClr val="F39C12"/>
                </a:solidFill>
                <a:effectLst/>
                <a:latin typeface="Consolas" panose="020B0609020204030204" pitchFamily="34" charset="0"/>
              </a:rPr>
              <a:t>pinMode</a:t>
            </a: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(echo, INPUT);</a:t>
            </a:r>
            <a:endParaRPr lang="en-GB" sz="900" b="0" dirty="0">
              <a:solidFill>
                <a:srgbClr val="DAE3E3"/>
              </a:solidFill>
              <a:effectLst/>
              <a:latin typeface="Consolas" panose="020B0609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  </a:t>
            </a:r>
            <a:r>
              <a:rPr lang="en-GB" sz="900" b="0" dirty="0" err="1">
                <a:solidFill>
                  <a:srgbClr val="F39C12"/>
                </a:solidFill>
                <a:effectLst/>
                <a:latin typeface="Consolas" panose="020B0609020204030204" pitchFamily="34" charset="0"/>
              </a:rPr>
              <a:t>pinMode</a:t>
            </a: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(buzzer, OUTPUT);</a:t>
            </a:r>
            <a:endParaRPr lang="en-GB" sz="900" b="0" dirty="0">
              <a:solidFill>
                <a:srgbClr val="DAE3E3"/>
              </a:solidFill>
              <a:effectLst/>
              <a:latin typeface="Consolas" panose="020B0609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  </a:t>
            </a:r>
            <a:r>
              <a:rPr lang="en-GB" sz="900" b="0" dirty="0" err="1">
                <a:solidFill>
                  <a:srgbClr val="F39C12"/>
                </a:solidFill>
                <a:effectLst/>
                <a:latin typeface="Consolas" panose="020B0609020204030204" pitchFamily="34" charset="0"/>
              </a:rPr>
              <a:t>pinMode</a:t>
            </a: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(</a:t>
            </a:r>
            <a:r>
              <a:rPr lang="en-GB" sz="900" b="0" dirty="0" err="1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greenLED</a:t>
            </a: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, OUTPUT);</a:t>
            </a:r>
            <a:endParaRPr lang="en-GB" sz="900" b="0" dirty="0">
              <a:solidFill>
                <a:srgbClr val="DAE3E3"/>
              </a:solidFill>
              <a:effectLst/>
              <a:latin typeface="Consolas" panose="020B0609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  </a:t>
            </a:r>
            <a:r>
              <a:rPr lang="en-GB" sz="900" b="0" dirty="0" err="1">
                <a:solidFill>
                  <a:srgbClr val="F39C12"/>
                </a:solidFill>
                <a:effectLst/>
                <a:latin typeface="Consolas" panose="020B0609020204030204" pitchFamily="34" charset="0"/>
              </a:rPr>
              <a:t>pinMode</a:t>
            </a: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(</a:t>
            </a:r>
            <a:r>
              <a:rPr lang="en-GB" sz="900" b="0" dirty="0" err="1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redLED</a:t>
            </a: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, OUTPUT);</a:t>
            </a:r>
            <a:endParaRPr lang="en-GB" sz="900" b="0" dirty="0">
              <a:solidFill>
                <a:srgbClr val="DAE3E3"/>
              </a:solidFill>
              <a:effectLst/>
              <a:latin typeface="Consolas" panose="020B0609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  </a:t>
            </a:r>
            <a:r>
              <a:rPr lang="en-GB" sz="900" b="0" dirty="0" err="1">
                <a:solidFill>
                  <a:srgbClr val="F39C12"/>
                </a:solidFill>
                <a:effectLst/>
                <a:latin typeface="Consolas" panose="020B0609020204030204" pitchFamily="34" charset="0"/>
              </a:rPr>
              <a:t>pinMode</a:t>
            </a: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(button, INPUT_PULLUP);</a:t>
            </a:r>
            <a:endParaRPr lang="en-GB" sz="900" b="0" dirty="0">
              <a:solidFill>
                <a:srgbClr val="DAE3E3"/>
              </a:solidFill>
              <a:effectLst/>
              <a:latin typeface="Consolas" panose="020B0609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}</a:t>
            </a:r>
            <a:endParaRPr lang="en-GB" sz="900" b="0" dirty="0">
              <a:solidFill>
                <a:srgbClr val="DAE3E3"/>
              </a:solidFill>
              <a:effectLst/>
              <a:latin typeface="Consolas" panose="020B0609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900" b="0" dirty="0">
                <a:solidFill>
                  <a:srgbClr val="0CA1A6"/>
                </a:solidFill>
                <a:effectLst/>
                <a:latin typeface="Consolas" panose="020B0609020204030204" pitchFamily="34" charset="0"/>
              </a:rPr>
              <a:t>void</a:t>
            </a: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 </a:t>
            </a:r>
            <a:r>
              <a:rPr lang="en-GB" sz="900" b="0" dirty="0">
                <a:solidFill>
                  <a:srgbClr val="F39C12"/>
                </a:solidFill>
                <a:effectLst/>
                <a:latin typeface="Consolas" panose="020B0609020204030204" pitchFamily="34" charset="0"/>
              </a:rPr>
              <a:t>loop</a:t>
            </a: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() {</a:t>
            </a:r>
            <a:endParaRPr lang="en-GB" sz="900" b="0" dirty="0">
              <a:solidFill>
                <a:srgbClr val="DAE3E3"/>
              </a:solidFill>
              <a:effectLst/>
              <a:latin typeface="Consolas" panose="020B0609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900" b="0" dirty="0">
                <a:solidFill>
                  <a:srgbClr val="7F8C8D"/>
                </a:solidFill>
                <a:effectLst/>
                <a:latin typeface="Consolas" panose="020B0609020204030204" pitchFamily="34" charset="0"/>
              </a:rPr>
              <a:t>  // Toggle system ON/OFF when button pressed</a:t>
            </a:r>
            <a:endParaRPr lang="en-GB" sz="900" b="0" dirty="0">
              <a:solidFill>
                <a:srgbClr val="DAE3E3"/>
              </a:solidFill>
              <a:effectLst/>
              <a:latin typeface="Consolas" panose="020B0609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  </a:t>
            </a:r>
            <a:r>
              <a:rPr lang="en-GB" sz="900" b="0" dirty="0">
                <a:solidFill>
                  <a:srgbClr val="C586C0"/>
                </a:solidFill>
                <a:effectLst/>
                <a:latin typeface="Consolas" panose="020B0609020204030204" pitchFamily="34" charset="0"/>
              </a:rPr>
              <a:t>if</a:t>
            </a: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 (</a:t>
            </a:r>
            <a:r>
              <a:rPr lang="en-GB" sz="900" b="0" dirty="0" err="1">
                <a:solidFill>
                  <a:srgbClr val="F39C12"/>
                </a:solidFill>
                <a:effectLst/>
                <a:latin typeface="Consolas" panose="020B0609020204030204" pitchFamily="34" charset="0"/>
              </a:rPr>
              <a:t>digitalRead</a:t>
            </a: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(button) == LOW) {</a:t>
            </a:r>
            <a:endParaRPr lang="en-GB" sz="900" b="0" dirty="0">
              <a:solidFill>
                <a:srgbClr val="DAE3E3"/>
              </a:solidFill>
              <a:effectLst/>
              <a:latin typeface="Consolas" panose="020B0609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    systemArmed = !systemArmed;</a:t>
            </a:r>
            <a:r>
              <a:rPr lang="en-GB" sz="900" b="0" dirty="0">
                <a:solidFill>
                  <a:srgbClr val="7F8C8D"/>
                </a:solidFill>
                <a:effectLst/>
                <a:latin typeface="Consolas" panose="020B0609020204030204" pitchFamily="34" charset="0"/>
              </a:rPr>
              <a:t> // switch state</a:t>
            </a:r>
            <a:endParaRPr lang="en-GB" sz="900" b="0" dirty="0">
              <a:solidFill>
                <a:srgbClr val="DAE3E3"/>
              </a:solidFill>
              <a:effectLst/>
              <a:latin typeface="Consolas" panose="020B0609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    </a:t>
            </a:r>
            <a:r>
              <a:rPr lang="en-GB" sz="900" b="0" dirty="0">
                <a:solidFill>
                  <a:srgbClr val="F39C12"/>
                </a:solidFill>
                <a:effectLst/>
                <a:latin typeface="Consolas" panose="020B0609020204030204" pitchFamily="34" charset="0"/>
              </a:rPr>
              <a:t>delay</a:t>
            </a: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(</a:t>
            </a:r>
            <a:r>
              <a:rPr lang="en-GB" sz="900" b="0" dirty="0">
                <a:solidFill>
                  <a:srgbClr val="7FCBCD"/>
                </a:solidFill>
                <a:effectLst/>
                <a:latin typeface="Consolas" panose="020B0609020204030204" pitchFamily="34" charset="0"/>
              </a:rPr>
              <a:t>300</a:t>
            </a: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);</a:t>
            </a:r>
            <a:r>
              <a:rPr lang="en-GB" sz="900" b="0" dirty="0">
                <a:solidFill>
                  <a:srgbClr val="7F8C8D"/>
                </a:solidFill>
                <a:effectLst/>
                <a:latin typeface="Consolas" panose="020B0609020204030204" pitchFamily="34" charset="0"/>
              </a:rPr>
              <a:t> // debounce delay</a:t>
            </a:r>
            <a:endParaRPr lang="en-GB" sz="900" b="0" dirty="0">
              <a:solidFill>
                <a:srgbClr val="DAE3E3"/>
              </a:solidFill>
              <a:effectLst/>
              <a:latin typeface="Consolas" panose="020B0609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900" b="0" dirty="0">
                <a:solidFill>
                  <a:srgbClr val="DAE3E3"/>
                </a:solidFill>
                <a:effectLst/>
                <a:latin typeface="Consolas" panose="020B0609020204030204" pitchFamily="34" charset="0"/>
              </a:rPr>
              <a:t>  }</a:t>
            </a:r>
            <a:endParaRPr lang="en-GB" sz="900" b="0" dirty="0">
              <a:solidFill>
                <a:srgbClr val="DAE3E3"/>
              </a:solidFill>
              <a:effectLst/>
              <a:latin typeface="Consolas" panose="020B0609020204030204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GB" sz="900" b="0" dirty="0">
              <a:solidFill>
                <a:srgbClr val="DAE3E3"/>
              </a:solidFill>
              <a:effectLst/>
              <a:latin typeface="Consolas" panose="020B060902020403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557" y="859536"/>
            <a:ext cx="1766099" cy="42587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3FB950"/>
          </a:solidFill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&amp; Upgrades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036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207008"/>
            <a:ext cx="4206240" cy="3566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 UNO as the central controller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HC-SR04 sensor measuring distance in real-time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Button to toggle armed / disarmed state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 LED + buzzer for intrusion alert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Green LED for armed + clear confirmation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Resistor-protected LEDs for circuit safety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loop() with no blocking beyond debounce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841248"/>
            <a:ext cx="0" cy="393192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09606" y="84124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Circuit Diagram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10912" y="1316736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10912" y="2249424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6190" y="1289304"/>
            <a:ext cx="4306776" cy="3314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3384</Words>
  <Application>WPS Presentation</Application>
  <PresentationFormat>On-screen Show (16:9)</PresentationFormat>
  <Paragraphs>252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Ultrasonic-Based Anti-Theft Alarm System</dc:title>
  <dc:creator>PptxGenJS</dc:creator>
  <dc:subject>PptxGenJS Presentation</dc:subject>
  <cp:lastModifiedBy>Junaid Ayyan Mohammed Abdul</cp:lastModifiedBy>
  <cp:revision>4</cp:revision>
  <dcterms:created xsi:type="dcterms:W3CDTF">2026-04-18T18:05:00Z</dcterms:created>
  <dcterms:modified xsi:type="dcterms:W3CDTF">2026-06-23T04:03:59Z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9F381F2C8AA345F39F88D709B8F83909_13</vt:lpwstr>
  </property>
  <property fmtid="{D5CDD505-2E9C-101B-9397-08002B2CF9AE}" pid="3" name="KSOProductBuildVer">
    <vt:lpwstr>1033-12.1.0.26880</vt:lpwstr>
  </property>
</Properties>
</file>